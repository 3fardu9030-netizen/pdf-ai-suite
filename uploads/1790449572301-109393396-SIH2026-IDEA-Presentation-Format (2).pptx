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64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47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10640" y="1095375"/>
            <a:ext cx="10972800" cy="301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0783" y="1601432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8579295" y="2998700"/>
            <a:ext cx="3432088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497514" y="101601"/>
            <a:ext cx="8534400" cy="2299614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1072089"/>
            <a:ext cx="10363200" cy="299720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413" y="1350335"/>
            <a:ext cx="8920466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400" dirty="0"/>
              <a:t>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Low-Cost Dyslexia </a:t>
            </a:r>
          </a:p>
          <a:p>
            <a:pPr algn="just">
              <a:lnSpc>
                <a:spcPct val="200000"/>
              </a:lnSpc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Screening &amp; Multi-Lingual Game Suite for Primary Education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Smart Education / EdTech / Social Inclusion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783112-E9B3-BEE2-566E-ED660E9E48FC}"/>
              </a:ext>
            </a:extLst>
          </p:cNvPr>
          <p:cNvSpPr txBox="1"/>
          <p:nvPr/>
        </p:nvSpPr>
        <p:spPr>
          <a:xfrm>
            <a:off x="182998" y="1311826"/>
            <a:ext cx="114378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Idea Title: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AksharaPlay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– A Multilingual, Gamified Edge-AI Diagnostic Suite for Early Dyslexia Screening in Primary Schools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871122D7-8080-44BA-0518-53189F57BD51}"/>
              </a:ext>
            </a:extLst>
          </p:cNvPr>
          <p:cNvSpPr/>
          <p:nvPr/>
        </p:nvSpPr>
        <p:spPr>
          <a:xfrm>
            <a:off x="83316" y="2142823"/>
            <a:ext cx="5647634" cy="3906590"/>
          </a:xfrm>
          <a:prstGeom prst="round2DiagRect">
            <a:avLst/>
          </a:prstGeom>
          <a:solidFill>
            <a:schemeClr val="bg1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b="1" dirty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b="1" dirty="0">
              <a:latin typeface="+mj-lt"/>
            </a:endParaRPr>
          </a:p>
          <a:p>
            <a:pPr algn="just"/>
            <a:r>
              <a:rPr lang="en-IN" sz="2400" b="1" dirty="0">
                <a:solidFill>
                  <a:schemeClr val="accent1"/>
                </a:solidFill>
                <a:latin typeface="+mj-lt"/>
              </a:rPr>
              <a:t>Proposed Solution:</a:t>
            </a:r>
          </a:p>
          <a:p>
            <a:r>
              <a:rPr lang="en-IN" sz="2200" dirty="0"/>
              <a:t>A gamified mobile application disguised as an immersive phonics adventure game that screens children for dyslexia during early primary school years.</a:t>
            </a:r>
          </a:p>
          <a:p>
            <a:endParaRPr lang="en-IN" sz="2200" dirty="0"/>
          </a:p>
          <a:p>
            <a:r>
              <a:rPr lang="en-IN" sz="2400" b="1" dirty="0">
                <a:solidFill>
                  <a:schemeClr val="accent1"/>
                </a:solidFill>
                <a:latin typeface="+mj-lt"/>
              </a:rPr>
              <a:t>Core Value:</a:t>
            </a:r>
          </a:p>
          <a:p>
            <a:r>
              <a:rPr lang="en-IN" sz="2200" dirty="0"/>
              <a:t>Bypasses clinical psychologist shortages by shifting preliminary diagnostic tracking directly into standard school classrooms.</a:t>
            </a:r>
          </a:p>
          <a:p>
            <a:endParaRPr lang="en-IN" sz="2200" dirty="0"/>
          </a:p>
          <a:p>
            <a:endParaRPr lang="en-IN" sz="2200" dirty="0"/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AF05C9A5-03DA-8E32-5055-59C06CC7AA2D}"/>
              </a:ext>
            </a:extLst>
          </p:cNvPr>
          <p:cNvSpPr/>
          <p:nvPr/>
        </p:nvSpPr>
        <p:spPr>
          <a:xfrm>
            <a:off x="6290100" y="2142823"/>
            <a:ext cx="5739836" cy="3906590"/>
          </a:xfrm>
          <a:prstGeom prst="round2DiagRect">
            <a:avLst/>
          </a:prstGeom>
          <a:solidFill>
            <a:schemeClr val="bg1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 b="1" dirty="0">
              <a:solidFill>
                <a:schemeClr val="accent1"/>
              </a:solidFill>
              <a:latin typeface="+mj-lt"/>
            </a:endParaRPr>
          </a:p>
          <a:p>
            <a:pPr algn="ctr"/>
            <a:endParaRPr lang="en-IN" sz="2400" b="1" dirty="0">
              <a:solidFill>
                <a:schemeClr val="accent1"/>
              </a:solidFill>
              <a:latin typeface="+mj-lt"/>
            </a:endParaRPr>
          </a:p>
          <a:p>
            <a:pPr algn="ctr"/>
            <a:endParaRPr lang="en-IN" sz="2400" b="1" dirty="0">
              <a:solidFill>
                <a:schemeClr val="accent1"/>
              </a:solidFill>
              <a:latin typeface="+mj-lt"/>
            </a:endParaRPr>
          </a:p>
          <a:p>
            <a:pPr algn="ctr"/>
            <a:r>
              <a:rPr lang="en-IN" sz="2400" b="1" dirty="0">
                <a:solidFill>
                  <a:schemeClr val="accent1"/>
                </a:solidFill>
                <a:latin typeface="+mj-lt"/>
              </a:rPr>
              <a:t>3-Tiered Architecture</a:t>
            </a:r>
          </a:p>
          <a:p>
            <a:pPr algn="ctr"/>
            <a:endParaRPr lang="en-IN" b="1" dirty="0"/>
          </a:p>
          <a:p>
            <a:pPr algn="just"/>
            <a:r>
              <a:rPr lang="en-IN" sz="2200" b="1" dirty="0">
                <a:latin typeface="+mj-lt"/>
              </a:rPr>
              <a:t>1.Gamified Tracking:</a:t>
            </a:r>
            <a:r>
              <a:rPr lang="en-IN" sz="2200" dirty="0">
                <a:latin typeface="+mj-lt"/>
              </a:rPr>
              <a:t> </a:t>
            </a:r>
            <a:r>
              <a:rPr lang="en-IN" sz="2200" dirty="0"/>
              <a:t>Captures touch latency and erratic visual saccades during gameplay.</a:t>
            </a:r>
          </a:p>
          <a:p>
            <a:pPr algn="just"/>
            <a:endParaRPr lang="en-IN" sz="2000" dirty="0"/>
          </a:p>
          <a:p>
            <a:pPr algn="just"/>
            <a:r>
              <a:rPr lang="en-IN" sz="2200" b="1" dirty="0">
                <a:latin typeface="+mj-lt"/>
              </a:rPr>
              <a:t>2.Speech &amp; NLP:</a:t>
            </a:r>
            <a:r>
              <a:rPr lang="en-IN" sz="2200" dirty="0">
                <a:latin typeface="+mj-lt"/>
              </a:rPr>
              <a:t> </a:t>
            </a:r>
            <a:r>
              <a:rPr lang="en-IN" sz="2200" dirty="0" err="1"/>
              <a:t>Analyzes</a:t>
            </a:r>
            <a:r>
              <a:rPr lang="en-IN" sz="2200" dirty="0"/>
              <a:t> phoneme substitution and syllable omission in regional Indian languages.</a:t>
            </a:r>
          </a:p>
          <a:p>
            <a:pPr algn="just"/>
            <a:endParaRPr lang="en-IN" sz="2200" dirty="0"/>
          </a:p>
          <a:p>
            <a:r>
              <a:rPr lang="en-IN" b="1" dirty="0"/>
              <a:t> </a:t>
            </a:r>
            <a:r>
              <a:rPr lang="en-IN" sz="2200" b="1" dirty="0">
                <a:latin typeface="+mj-lt"/>
              </a:rPr>
              <a:t>3.Teacher Dashboard:</a:t>
            </a:r>
            <a:r>
              <a:rPr lang="en-IN" sz="2200" dirty="0">
                <a:latin typeface="+mj-lt"/>
              </a:rPr>
              <a:t> </a:t>
            </a:r>
            <a:r>
              <a:rPr lang="en-IN" sz="2200" dirty="0"/>
              <a:t>Converts metrics instantly into actionable clinical risk reports.</a:t>
            </a:r>
          </a:p>
          <a:p>
            <a:br>
              <a:rPr lang="en-IN" sz="2200" dirty="0"/>
            </a:br>
            <a:endParaRPr lang="en-IN" sz="2200" dirty="0"/>
          </a:p>
          <a:p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3752C71-248A-4FDD-D643-BA101F578CDA}"/>
              </a:ext>
            </a:extLst>
          </p:cNvPr>
          <p:cNvSpPr/>
          <p:nvPr/>
        </p:nvSpPr>
        <p:spPr>
          <a:xfrm>
            <a:off x="329773" y="1459041"/>
            <a:ext cx="11775937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b="1" dirty="0">
                <a:solidFill>
                  <a:srgbClr val="334155"/>
                </a:solidFill>
                <a:latin typeface="Plus Jakarta Sans"/>
              </a:rPr>
              <a:t>    </a:t>
            </a:r>
            <a:r>
              <a:rPr lang="en-US" sz="2400" b="1" dirty="0" err="1">
                <a:solidFill>
                  <a:srgbClr val="334155"/>
                </a:solidFill>
                <a:latin typeface="Plus Jakarta Sans"/>
              </a:rPr>
              <a:t>Techincal</a:t>
            </a:r>
            <a:r>
              <a:rPr lang="en-US" sz="2400" b="1" dirty="0">
                <a:solidFill>
                  <a:srgbClr val="334155"/>
                </a:solidFill>
                <a:latin typeface="Plus Jakarta Sans"/>
              </a:rPr>
              <a:t> Feasibility</a:t>
            </a:r>
            <a:r>
              <a:rPr lang="en-US" b="1" dirty="0">
                <a:solidFill>
                  <a:srgbClr val="334155"/>
                </a:solidFill>
                <a:latin typeface="Plus Jakarta Sans"/>
              </a:rPr>
              <a:t>:</a:t>
            </a:r>
            <a:r>
              <a:rPr lang="en-US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lang="en-US" sz="2200" dirty="0">
                <a:solidFill>
                  <a:srgbClr val="334155"/>
                </a:solidFill>
                <a:latin typeface="Plus Jakarta Sans"/>
              </a:rPr>
              <a:t>Built using mature open-source audio frameworks, allowing rapid prototyping and local offline execution in remote rural classrooms.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C268241-C628-0CBB-A492-6614BBB71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078751"/>
            <a:ext cx="3555950" cy="19621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3F0A684-D4D7-4AE5-DEE4-26E1E6567F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488" y="2849905"/>
            <a:ext cx="1460919" cy="360933"/>
          </a:xfrm>
          <a:prstGeom prst="rect">
            <a:avLst/>
          </a:prstGeom>
        </p:spPr>
      </p:pic>
      <p:sp>
        <p:nvSpPr>
          <p:cNvPr id="22" name="TextBox 12">
            <a:extLst>
              <a:ext uri="{FF2B5EF4-FFF2-40B4-BE49-F238E27FC236}">
                <a16:creationId xmlns:a16="http://schemas.microsoft.com/office/drawing/2014/main" id="{4B9FAFA3-6D9A-5913-FA55-422145AE1ADB}"/>
              </a:ext>
            </a:extLst>
          </p:cNvPr>
          <p:cNvSpPr txBox="1"/>
          <p:nvPr/>
        </p:nvSpPr>
        <p:spPr>
          <a:xfrm>
            <a:off x="624971" y="3319462"/>
            <a:ext cx="2926303" cy="307777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 i="0" u="none" dirty="0">
                <a:solidFill>
                  <a:srgbClr val="0284C7"/>
                </a:solidFill>
                <a:latin typeface="Outfit"/>
              </a:rPr>
              <a:t>Noise Interference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BB6828-0791-D683-76FD-539BB1F78C89}"/>
              </a:ext>
            </a:extLst>
          </p:cNvPr>
          <p:cNvSpPr txBox="1"/>
          <p:nvPr/>
        </p:nvSpPr>
        <p:spPr>
          <a:xfrm>
            <a:off x="609601" y="1715524"/>
            <a:ext cx="1088419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Education Policy (NEP) Guidelines: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directives on foundational literacy, numeracy, and inclusive classrooms in India.</a:t>
            </a:r>
          </a:p>
          <a:p>
            <a:pPr lvl="0"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Dyslexia Association of India (DAI) Research: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Statistical insights on uncertified learning disabilities and late-stage diagnostic bottlenecks in primary education.</a:t>
            </a:r>
          </a:p>
          <a:p>
            <a:pPr lvl="0"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Multilingual Speech Processing Standards: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Academic literature on phoneme-level acoustic modelling for low-resource regional Indian languages.</a:t>
            </a:r>
          </a:p>
          <a:p>
            <a:pPr lvl="0"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Gamified Cognitive Assessment Frameworks: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 studies on utilizing interactive mobile games for non-invasive neuro-developmental tracking in children.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7602</TotalTime>
  <Words>525</Words>
  <Application>Microsoft Office PowerPoint</Application>
  <PresentationFormat>Widescreen</PresentationFormat>
  <Paragraphs>83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Outfit</vt:lpstr>
      <vt:lpstr>Plus Jakarta Sans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HP 845 G7</cp:lastModifiedBy>
  <cp:revision>151</cp:revision>
  <dcterms:created xsi:type="dcterms:W3CDTF">2013-12-12T18:46:50Z</dcterms:created>
  <dcterms:modified xsi:type="dcterms:W3CDTF">2026-08-31T03:38:26Z</dcterms:modified>
  <cp:category/>
</cp:coreProperties>
</file>