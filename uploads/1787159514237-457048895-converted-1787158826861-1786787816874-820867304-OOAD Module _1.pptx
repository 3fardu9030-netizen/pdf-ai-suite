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ANALYSIS AND DESIGN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Introduction to UML: Importance of modeling, principles of modeling, object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oriented modeling, Conceptual model of the UML, Architecture, and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Life Cycle.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UNIT – 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graphical language for visualizing, specifying, constructing,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documenting the artifacts of a software-intensive system. The UML gives you a standard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 to write a system's blueprints, covering conceptual things, such as business processes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system functions, as well as concrete things, such as classes written in a specific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programming language, database schemas, and reusable software components.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Importance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model is a simplification of reality. A model provides the blueprints of a system.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 may be structural, emphasizing the organization of the system, or it may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behavioral, emphasizing the dynamics of the system.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Aims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so that we can better understand the system we are developing.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 modeling, we achieve four aims.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Models help us to visualize a system as it is or as we want it to be.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Models permit us to specify the structure or behavior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Models give us a template that guides us in constructing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Models document the decisions we have made.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 build models of complex systems because we cannot comprehend such a system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its entirety.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Principles of Modeling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basic principles of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 choice of what models to create has a profound influence on how a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attacked and how a solution is shaped.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Every model may be expressed at different levels of precision.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The best models are connected to reality.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No single model is sufficient. Every nontrivial system is best approached through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small set of nearly independent models.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Oriented Modeling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software, there are several ways to approach a model. The two most common ways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Algorithmic perspective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Object-oriented perspective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Algorithmic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traditional view of software development takes an algorithmic 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is the procedure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leads developers to focus on issues of control and the decomposition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larger algorithms into smaller ones.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requirements change and the system grows, systems built with an algorithmic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turn out to be very hard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Object-Oriented Perspective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contemporary view of software development takes an object-oriented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perspective.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approach, the main building block of all software systems is the object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is a description of a set of common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Every object has identity, state, and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Object-oriented development provides the conceptual foundation for assembling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out of components using technology such as Java Beans or COM+.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An Overview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Unified Modeling Language is a standard language for writing software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blueprints. The UML may be used to visualize, specify, construct, and document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artifacts of a software-intensive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appropriate for modeling systems ranging from enterprise information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systems to distributed Web-based applications and even to hard real time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embedded systems. It is a very expressive language, addressing all the views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needed to develop and then deploy such systems.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is a language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Visualizing The UML is more than just a bunch of graphical symbols. Rather, behind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each symbol in the UML notation is a well-defined semantics. In this manner,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developer can write a model in the UML, and another developer, or even another tool,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interpret that model unambiguously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Specifying means building models that are precise, unambiguous, and complete.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Constructing the UML is not a visual programming language, but its models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directly connected to a variety of programming languages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Documenting a healthy software organization produces all sorts of artifacts in addition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raw executable code. These artifacts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o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Design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Source code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Project plans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Tests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Prototypes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 Releases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- 2 of 15 --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Conceptual model of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 understand the UML, you need to form a conceptual model of the language,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this requires learning three major elements: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Basic building blocks of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Rules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Basic building blocks of the UML: Vocabulary of the UML can be defined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Things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2. Relationships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3. Diagrams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Things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There are four kinds of things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Structural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Annotational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 are the nouns of UML models. These are the mostly static parts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model, representing elements that are either conceptual or physical. In all, there are seven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kinds of structural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Interfaces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Use cases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Active classes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6. Components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7. Nodes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Class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description of a set of objects that share the same attributes, operations,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relationships, and semantics.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implements one or more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class is rendered as a rectangle, usually including its name,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- 3 of 15 --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Interface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Interface is a collection of operations that specify a service of a class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therefore describes the externally visible behavior of that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might represent the complete behavior of a class or component or only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part of that behavior.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interface is rendered as a circle together with its name. An interface rarely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stands alone. Rather, it is typically attached to the class or component that realizes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interface.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IUnkonwn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Interface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Collaboration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defines an interaction and is a society of roles and other elements that work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together to provide some cooperative behavior that's bigger than the sum of all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Therefore, collaborations have structural, as well as behavioral, dimensions.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given class might participate in several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collaboration is rendered as an ellipse with dashed lines, usually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Use case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a description of set of sequence of actions that a system performs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yields an observable result of value to a particular actor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is used to structure the behavioral things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is realized by a collaboration. Graphically, a use case is rendered as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ellipse with solid lines,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Use case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Active class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just like a class except that its objects represent elements whose behavior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concurrent with other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an active class is rendered just like a class, but with heavy lines,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usually including its name, attributes,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Active class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Component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and replaceable part of a system that conforms to and provides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 of a set of interfaces.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component is rendered as a rectangle with tabs.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Component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Node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a physical element that exists at run time and represents a computational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resource, generally having at least some memory and, often, processing capability.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node is rendered as a cube, usually including only its name.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the dynamic parts of UML models. These are the verbs of a model,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representing behavior over time and space.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all, there are two primary kinds of behavioral things.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is a behavior that comprises a set of messages exchanged among a set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objects within a particular context to accomplish a specific purpose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interaction involves a number of other elements, including messages, 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sequences and links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message is rendered as a directed line, almost always including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 of its operation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Message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is a behavior that specifies the sequences of states an object or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interaction goes through during its lifetime in response to events, together with its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responses to those events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- 5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machine involves a number of other elements, including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state is rendered as a rounded rectangle, usually including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its substates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State machine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Grouping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These are the organizational parts of UML models. These are the boxes into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which a model can be decomposed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There is one primary kind of grouping thing, namely, packages.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package is a general-purpose mechanism for organizing elements into groups.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Structural things, behavioral things, and even other grouping things may be placed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package is rendered as a tabbed folder, usually including only its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and, sometimes, its contents.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Package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Annotational things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are the explanatory parts of UML models. These are the comments you may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apply to describe about any element in a model.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There is one primary kind of Annotational thing, namely, note.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note is simply a symbol for rendering constraints and comments attached to 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element or a collection of elements.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Graphically, a note is rendered as a rectangle with a dog-eared corner, together with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textual or graphical comment.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Note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 in the UML: There are four kinds of relationships in the UML: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- 6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Dependency is a semantic relationship between two things in which a change to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thing may affect the semantics of the other thing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dependency is rendered as a dashed line, possibly directed,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occasionally including a label.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Dependency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Association is a structural relationship that describes a set of links, a link being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connection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an association is rendered as a solid line, possibly directed, occasionally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including a label, and often containing other adornments, such as multiplicity and role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names.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Association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Generalization is a relationship that implements the concept of inheritance, a fundamental principle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object-oriented programming. This relationship occurs between two entities or objects, where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one entity is the parent (or superclass) and the other is the child (or subclass). The child inherits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attributes, operations, and relationships of the parent, allowing for reuse and extension of existing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functionality.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Realization is a semantic relationship between classifiers, wherein one classifier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specifies a contract that another classifier guarantees to carry out.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Graphically a realization relationship is rendered as a cross between a generalization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a dependency relationship.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Fig: Realization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Diagrams in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Diagram is the graphical presentation of a set of elements, most often rendered as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connected graph of vertices (things) and arcs (relationships).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theory, a diagram may contain any combination of things and 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For this reason, the UML includes nine such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- 7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Collaboration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 diagram shows a set of classes, interfaces, and collaborations and their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relationships.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Class diagrams that include active classes address the static process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Object diagrams represent static snapshots of instances of the things found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address the static design view or static process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object diagram shows a set of objects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use case diagram shows a set of use cases and actors and their relationships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diagrams address the static use case view of a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diagrams are especially important in organizing and modeling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behaviors of a system.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Interaction Diagrams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Both sequence diagrams and collaboration diagrams are kinds of interaction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Interaction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sequence diagram is an interaction diagram that emphasizes the time-ordering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collaboration diagram is an interaction diagram that emphasizes the structural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organization of the objects that send and receive messages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Sequence diagrams and collaboration diagrams are isomorphic, meaning that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take one and transform it into the other.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Statechart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state chart diagram shows a state machine, consisting of states, transitions,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events, and activities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State chart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especially important in modeling the behavior of an interface, class,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collaboration and emphasize the event-ordered behavior of an object.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activity diagram is a special kind of a state chart diagram that shows the flow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from activity to activity within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Activity diagrams address the dynamic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They are especially important in modeling the function of a system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emphasize the flow of control among objects.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- 8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component diagram shows the organizations and dependencies among a set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Component diagrams address the static implementation view of a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are related to class diagrams in that a component typically maps to one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more classes, interfaces, or collaborations.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diagram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deployment diagram shows the configuration of run-time processing nodes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components that live on them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Deployment diagrams address the static deployment view of an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Rules of the UML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 has semantic rules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Names What you can call things, relationships, and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Scope The context that gives specific meaning to a name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Visibility How those names can be seen and used by others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Integrity How things properly and consistently relate to one another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5. Execution What it means to run or simulate a dynamic model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Models built during the development of a software-intensive system tend to evolve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may be viewed by many stakeholders in different ways and at different times. For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reason, it is common for the development team to not only build models that are well-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formed, but also to build models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Elided Certain elements are hidden to simplify the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Incomplete Certain elements may be missing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Inconsistent The integrity of the model is not guaranteed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Mechanisms in the UML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UML is made simpler by the presence of four common mechanisms that apply consistently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throughout the language.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Specifications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4. 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They provides a textual statement of the syntax and semantics of that building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block.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UML's specifications provide a semantic backplane that contains all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all the models of a system, each part related to one another in a consistent fashion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Adornments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Most elements in the UML have a unique and direct graphical notation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provides a visual representation of the most important aspects of the element.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class's specification may include other details, such as whether it is abstract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visibility of its attributes and operations.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- 9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Many of these details can be rendered as graphical or textual adornments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class's basic rectangular notation.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Common Divisions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modeling object-oriented systems, the world often gets divided in at least a couple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ways.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First, there is the division of class and object. A class is an abstraction; an object is one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concrete manifestation of that abstraction. In the UML, you can model classes as well as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objects, as shown in Figure 2-17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class, named Customer, together with three objects: Jan (which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 marked explicitly as being a Customer object), :Customer (an anonymous Customer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object), and Elyse (which in its specification is marked as being a kind of Customer object,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although it's not shown explicitly here).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Second, there is the separation of interface and implementation. An interface declares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contract, and an implementation represents one concrete realization of that contract,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responsible for faithfully carrying out the interface's complete semantics. In the UML, you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can model both interfaces and their implementations, as shown in Figure 2-18.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 this figure, there is one component named spellingwizard.dll that implements two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interfaces, IUnknown and ISpelling.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- 10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Extensibility Mechanisms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UML's extensibility mechanisms include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1. Stereotypes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2. Tagged values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3. Constraints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Stereotype extends the vocabulary of the UML, allowing you to create new kinds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building blocks that are derived from existing ones but that are specific to your problem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tagged value extends the properties of a UML building block, allowing you to create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information in that element's specification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constraint extends the semantics of a UML building block, allowing you to add new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rules or modify existing ones. Examples for these are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architecture is perhaps the most important artifact that can be used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manage these different viewpoints and so control the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 of a system throughout its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Architecture is the set of significant decisions about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organization of a software system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selection of the structural elements and their interfaces by which the system 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composed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Their behavior, as specified in the collaborations among those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composition of these structural and behavioral elements into progressively larger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subsystems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architectural style that guides this organization: the static and dynamic elements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their interfaces, their collaborations, and their composition.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Software architecture is not only concerned with structure and behavior, but also with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usage, functionality, performance, resilience, reuse, comprehensibility, economic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technology constraints and trade-offs, and aesthetic concerns.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- 11 of 15 --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Modeling a System's Architecture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use case view of a system encompasses the use cases that describe the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the system as seen by its end users, analysts, and testers.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use case diagrams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dynamic aspects of this view are captured in interaction diagrams, state chart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Design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design view of a system encompasses the classes, interfaces, and collaborations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form the vocabulary of the problem and its solution.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supports the functional requirements of the system, meaning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services that the system should provide to its end users.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Process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process view of a system encompasses the threads and processes that form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system's concurrency and synchronization mechanisms.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performance, scalability, and throughput of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Implementation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implementation view of a system encompasses the components and files that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used to assemble and release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configuration management of the system's releases,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up of somewhat independent components and files that can be assembled in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various ways to produce a running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Deployment View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deployment view of a system encompasses the nodes that form the system's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hardware topology on which the system executes.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view primarily addresses the distribution, delivery, and installation of the parts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that make up the physical system.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- 12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With the UML, the static aspects of this view are captured in deployment diagrams;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the dynamic aspects of this view are captured in interaction diagrams, statechart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diagrams, and activity diagrams.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Each of these five views can stand alone so that different stakeholders can focus on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issues of the system's architecture that most concern them.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These five views also interact with one another• nodes in the deployment view hold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components in the implementation view that, in turn, represent the physical realization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of classes, interfaces, collaborations, and active classes from the design and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views.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permits you to express every one of these five views and their interactions.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UML is largely process-independent, meaning that it is not tied to any particular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software development life cycle.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However, to get the most benefit from the UML, you should consider a process that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Use case driven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 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Iterative and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Use case driven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use cases are used as a primary artifact for establishing the desired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behavior of the system, for verifying and validating the system's architecture,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testing, and for communicating among the stakeholders of the project.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Architecture-centric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means that a system's architecture is used as a primary artifact for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Conceptualizing, constructing, managing, and evolving the system under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development.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iterative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managing a stream of executable releases.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 incremental process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one that involves the continuous integration of the system's architecture to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produce these releases, with each new release embodying incremental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improvements over the other.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Together, an iterative and incremental process is risk-driven, meaning that each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new release is focused on attacking and reducing the most significant risks to the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success of the project. This use case driven, architecture-centric,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iterative/incremental process can be broken into phases.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phase is the span of time between two major milestones of the process, when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well-defined set of objectives are met, artifacts are completed, and decisions are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made whether to move into the next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As below figure shows, there are four phases in the software development life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cycle: inception, elaboration, construction, and transition. In the diagram,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- 13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workflows are plotted against these phases, showing their varying degrees of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focus over time.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</a:rPr>
              <a:t>Fig: Figure Software Development Life Cycle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Inception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first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seed idea for the development is brought up to the point of being• at least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internally• sufficiently well-founded to warrant entering into the elaboration phase.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Elaboration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second phase of the process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product vision and its architecture are defined.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In this phase, the system's requirements are articulated, prioritized, and baselined.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 system's requirements may range from general vision statements to precise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evaluation criteria, each specifying particular functional or nonfunctional behavior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each providing a basis for testing.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Construction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third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brought from an executable architectural baseline to being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ready to be transitioned to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system's requirements and especially its evaluation criteria are constantly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reexamined against the business needs of the project, and resources are allocated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as appropriate to actively attack risks to the project.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Transition phase: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It is the fourth phase of the process.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When the software is turned into the hands of the user community.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- 14 of 15 --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The software development process end here, for even during this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phase, the system is continuously improved, bugs are eradicated, and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features that didn't make an earlier release are added.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One element that distinguishes this process and that cuts across all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four phases is an iteration.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An iteration is a distinct set of activities, with a baselined plan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and evaluation criteria that result in a release, either internal or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external.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 This means that the software development life cycle can be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characterized as involving a continuous stream of executable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releases of the system's architecture.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It is this emphasis on architecture as an important artifact that drives the UML to focus on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modeling the different views of a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- 15 of 15 --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2026-08-19T17:00:26Z</dcterms:created>
  <dcterms:modified xsi:type="dcterms:W3CDTF">2026-08-19T17:00:26Z</dcterms:modified>
</cp:coreProperties>
</file>