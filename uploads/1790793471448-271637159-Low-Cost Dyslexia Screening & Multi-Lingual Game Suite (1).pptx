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31965"/>
            <a:ext cx="11049000" cy="4476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78359"/>
            <a:ext cx="3781425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354609"/>
            <a:ext cx="11601450" cy="12153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b="1" sz="4350" i="0" u="none">
                <a:solidFill>
                  <a:srgbClr val="0F172A"/>
                </a:solidFill>
                <a:latin typeface="Outfit"/>
              </a:rPr>
              <a:t>AksharaPlay: Low-Cost Dyslexia Screening &amp; Multi-Lingual Game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712815"/>
            <a:ext cx="11049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0284C7"/>
                </a:solidFill>
                <a:latin typeface="Plus Jakarta Sans SemiBold"/>
              </a:rPr>
              <a:t>Early primary school diagnostic ecosystem powered by edge speech-recognition and 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779615"/>
            <a:ext cx="2914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Plus Jakarta Sans"/>
              </a:rPr>
              <a:t>Theme:</a:t>
            </a:r>
            <a:r>
              <a:rPr b="0" sz="1200" i="0" u="none">
                <a:solidFill>
                  <a:srgbClr val="000000"/>
                </a:solidFill>
                <a:latin typeface="Plus Jakarta Sans"/>
              </a:rPr>
              <a:t> Smart Education / Inclusive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4779615"/>
            <a:ext cx="1438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Plus Jakarta Sans"/>
              </a:rPr>
              <a:t>Category:</a:t>
            </a:r>
            <a:r>
              <a:rPr b="0" sz="1200" i="0" u="none">
                <a:solidFill>
                  <a:srgbClr val="000000"/>
                </a:solidFill>
                <a:latin typeface="Plus Jakarta Sans"/>
              </a:rPr>
              <a:t>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6425" y="4779615"/>
            <a:ext cx="1762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00000"/>
                </a:solidFill>
                <a:latin typeface="Plus Jakarta Sans"/>
              </a:rPr>
              <a:t>Team ID:</a:t>
            </a:r>
            <a:r>
              <a:rPr b="0" sz="1200" i="0" u="none">
                <a:solidFill>
                  <a:srgbClr val="000000"/>
                </a:solidFill>
                <a:latin typeface="Plus Jakarta Sans"/>
              </a:rPr>
              <a:t> [Insert Team ID]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28887"/>
            <a:ext cx="5357812" cy="2543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528887"/>
            <a:ext cx="5357812" cy="2543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6775" y="2824162"/>
            <a:ext cx="50056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Outfit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205162"/>
            <a:ext cx="4767262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A gamified mobile application disguised as an immersive phonics adventure game that screens children for dyslexia during early primary school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048125"/>
            <a:ext cx="4767262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Core Value: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Bypasses clinical psychologist shortages by shifting preliminary diagnostic tracking directly into standard school classrooms.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2824162"/>
            <a:ext cx="500562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Outfit"/>
              </a:rPr>
              <a:t>3-Tiered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3205162"/>
            <a:ext cx="476726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1. Gamified Tracking: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Captures touch latency and erratic visual saccades during gameplay.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3748087"/>
            <a:ext cx="476726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2. Speech &amp; NLP: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Analyzes phoneme substitution and syllable omission in regional Indian languages.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7962" y="4291012"/>
            <a:ext cx="4767262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3. Teacher Dashboard: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Converts metrics instantly into actionable clinical risk reports.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Idea Title &amp; Proposed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97956"/>
            <a:ext cx="3524250" cy="2205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97956"/>
            <a:ext cx="3524250" cy="22050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697956"/>
            <a:ext cx="3524250" cy="22050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945606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593306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Outfit"/>
              </a:rPr>
              <a:t>Frontend &amp;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926681"/>
            <a:ext cx="30289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Flutter cross-platform mobile &amp; tablet framework built for public school device compatibility.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945606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525" y="3593306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Outfit"/>
              </a:rPr>
              <a:t>Speech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926681"/>
            <a:ext cx="30289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Offline TensorFlow Lite &amp; Vosk API running locally to evaluate regional phonemes without cloud latency.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945606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593306"/>
            <a:ext cx="318039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Outfit"/>
              </a:rPr>
              <a:t>Backend &amp;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926681"/>
            <a:ext cx="302895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Python FastAPI paired with scikit-learn classification models and secure PostgreSQL caching.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12" y="3078956"/>
            <a:ext cx="161925" cy="2095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8687" y="3078956"/>
            <a:ext cx="161925" cy="2095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1537" y="3078956"/>
            <a:ext cx="18097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Technical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505200"/>
            <a:ext cx="3555950" cy="1962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3505200"/>
            <a:ext cx="3555950" cy="1962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3505200"/>
            <a:ext cx="3555950" cy="19621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733925"/>
            <a:ext cx="30797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6075" y="4733925"/>
            <a:ext cx="3079700" cy="495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2525" y="4733925"/>
            <a:ext cx="30797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3124200"/>
            <a:ext cx="116014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Outfit"/>
              </a:rPr>
              <a:t>Risk Mitigation Pipeline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2414587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475" y="2266950"/>
            <a:ext cx="1029652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Plus Jakarta Sans"/>
              </a:rPr>
              <a:t>Technical Feasibility: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Built using mature open-source audio frameworks, allowing rapid prototyping and local offline execution in remote rural classrooms.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625" y="3400425"/>
            <a:ext cx="809625" cy="2000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9625" y="3838575"/>
            <a:ext cx="3233685" cy="219075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Outfit"/>
              </a:rPr>
              <a:t>Noise Interference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133850"/>
            <a:ext cx="3079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High background noise in crowded rural classrooms.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6075" y="3400425"/>
            <a:ext cx="828675" cy="2000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56075" y="3838575"/>
            <a:ext cx="323368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Outfit"/>
              </a:rPr>
              <a:t>Zero Connectivity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6075" y="4133850"/>
            <a:ext cx="3079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Lack of internet in remote primary schools.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2525" y="3400425"/>
            <a:ext cx="82867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02525" y="3838575"/>
            <a:ext cx="3233685" cy="219075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Outfit"/>
              </a:rPr>
              <a:t>Child Test Anxiety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525" y="4133850"/>
            <a:ext cx="307970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Plus Jakarta Sans"/>
              </a:rPr>
              <a:t>Intimidation caused by formal diagnostic exams.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9625" y="3867150"/>
            <a:ext cx="190500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2525" y="3867150"/>
            <a:ext cx="171450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Feasibility and Viability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3112"/>
            <a:ext cx="3555950" cy="1257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043112"/>
            <a:ext cx="3555950" cy="1257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043112"/>
            <a:ext cx="3556099" cy="1257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1525" y="2243137"/>
            <a:ext cx="3155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369A1"/>
                </a:solidFill>
                <a:latin typeface="Outfit"/>
              </a:rPr>
              <a:t>10M+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2662237"/>
            <a:ext cx="31559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 SemiBold"/>
              </a:rPr>
              <a:t>Undiagnosed Children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2914650"/>
            <a:ext cx="3155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Saved from mislabeling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975" y="2243137"/>
            <a:ext cx="3155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369A1"/>
                </a:solidFill>
                <a:latin typeface="Outfit"/>
              </a:rPr>
              <a:t>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975" y="2662237"/>
            <a:ext cx="3155900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 SemiBold"/>
              </a:rPr>
              <a:t>Cost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7975" y="2914650"/>
            <a:ext cx="315590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Versus private clinics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4425" y="2243137"/>
            <a:ext cx="3156049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369A1"/>
                </a:solidFill>
                <a:latin typeface="Outfit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4425" y="2662237"/>
            <a:ext cx="3156049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Plus Jakarta Sans SemiBold"/>
              </a:rPr>
              <a:t>NEP 2020 Aligned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4425" y="2914650"/>
            <a:ext cx="3156049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Plus Jakarta Sans"/>
              </a:rPr>
              <a:t>Inclusive public schooling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" y="3490912"/>
            <a:ext cx="11049000" cy="900112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5375" y="3662362"/>
            <a:ext cx="103346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Social Inclusion &amp; Emotional Relief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Stigma-free early screening prevents rural children from being unfairly mislabeled as slow learners, building lifelong confidence.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" y="4524375"/>
            <a:ext cx="11049000" cy="900112"/>
          </a:xfrm>
          <a:prstGeom prst="roundRect">
            <a:avLst>
              <a:gd name="adj" fmla="val 1058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5375" y="4695825"/>
            <a:ext cx="103346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0F172A"/>
                </a:solidFill>
                <a:latin typeface="Plus Jakarta Sans"/>
              </a:rPr>
              <a:t>Democratizing Healthcare Access</a:t>
            </a:r>
            <a:r>
              <a:rPr b="0" sz="1275" i="0" u="none">
                <a:solidFill>
                  <a:srgbClr val="334155"/>
                </a:solidFill>
                <a:latin typeface="Plus Jakarta Sans"/>
              </a:rPr>
              <a:t> Completely eliminates heavy financial barriers of private clinical assessments for low-income and marginalized families.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4381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5414962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3686175"/>
            <a:ext cx="23812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4719637"/>
            <a:ext cx="219075" cy="2000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Impact and Benefits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395537"/>
            <a:ext cx="11049000" cy="28098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395537"/>
          <a:ext cx="11039473" cy="280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67630"/>
                <a:gridCol w="3427511"/>
                <a:gridCol w="7044332"/>
              </a:tblGrid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Outfit"/>
                        </a:rPr>
                        <a:t>#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Outfit"/>
                        </a:rPr>
                        <a:t>Reference Framework / Source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Outfit"/>
                        </a:rPr>
                        <a:t>Core Contribution to Project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National Education Policy (NEP)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Foundational literacy, numeracy, and inclusive school ecosystem guidelines.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Dyslexia Association of India (DAI)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Statistical data on uncertified learning disabilities and bottlenecks.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Multilingual Speech Standards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Acoustic modeling literature for low-resource regional Indian phonemes.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Gamified Cognitive Case Studies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Frameworks for non-invasive neuro-developmental mobile tracking.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6262" y="2962275"/>
            <a:ext cx="567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43892" y="2962275"/>
            <a:ext cx="34275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1404" y="2962275"/>
            <a:ext cx="7044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262" y="3519487"/>
            <a:ext cx="567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892" y="3519487"/>
            <a:ext cx="34275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1404" y="3519487"/>
            <a:ext cx="7044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262" y="4076700"/>
            <a:ext cx="567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892" y="4076700"/>
            <a:ext cx="34275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1404" y="4076700"/>
            <a:ext cx="7044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262" y="4633912"/>
            <a:ext cx="56763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892" y="4633912"/>
            <a:ext cx="342751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1404" y="4633912"/>
            <a:ext cx="704433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Outfit"/>
              </a:rPr>
              <a:t>Research and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